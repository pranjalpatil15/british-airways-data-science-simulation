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invertIfNegative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invertIfNegative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invertIfNegative val="1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Pt>
            <c:idx val="4"/>
            <c:invertIfNegative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</c:dPt>
          <c:dPt>
            <c:idx val="5"/>
            <c:invertIfNegative val="1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</c:dPt>
          <c:dPt>
            <c:idx val="6"/>
            <c:invertIfNegative val="1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</c:dPt>
          <c:cat>
            <c:strRef>
              <c:f>Sheet1!$A$2:$A$8</c:f>
              <c:strCache>
                <c:ptCount val="7"/>
                <c:pt idx="0">
                  <c:v>Loyalty Tier</c:v>
                </c:pt>
                <c:pt idx="1">
                  <c:v>Past Holiday Purchases</c:v>
                </c:pt>
                <c:pt idx="2">
                  <c:v>Lead Time</c:v>
                </c:pt>
                <c:pt idx="3">
                  <c:v>Income Band</c:v>
                </c:pt>
                <c:pt idx="4">
                  <c:v>Destination Type</c:v>
                </c:pt>
                <c:pt idx="5">
                  <c:v>Trip Type</c:v>
                </c:pt>
                <c:pt idx="6">
                  <c:v>Booking Origin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0.24</c:v>
                </c:pt>
                <c:pt idx="1">
                  <c:v>0.21</c:v>
                </c:pt>
                <c:pt idx="2">
                  <c:v>0.19</c:v>
                </c:pt>
                <c:pt idx="3">
                  <c:v>0.14000000000000001</c:v>
                </c:pt>
                <c:pt idx="4">
                  <c:v>0.08</c:v>
                </c:pt>
                <c:pt idx="5">
                  <c:v>0.06</c:v>
                </c:pt>
                <c:pt idx="6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6A-4BCC-8946-96A62E0508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4000" b="1"/>
            </a:pP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• Loyalty tier and past holiday purchases were the strongest predictors.</a:t>
            </a:r>
          </a:p>
          <a:p>
            <a:pPr>
              <a:defRPr sz="2000"/>
            </a:pPr>
            <a:r>
              <a:rPr dirty="0"/>
              <a:t>• Lead time before travel contributed significantly to predictions.</a:t>
            </a:r>
          </a:p>
          <a:p>
            <a:pPr>
              <a:defRPr sz="2000"/>
            </a:pPr>
            <a:r>
              <a:rPr dirty="0"/>
              <a:t>• Income and destination factors added moderate predictive value.</a:t>
            </a:r>
          </a:p>
          <a:p>
            <a:pPr>
              <a:defRPr sz="2000"/>
            </a:pPr>
            <a:r>
              <a:rPr dirty="0"/>
              <a:t>• Booking origin showed low importance.</a:t>
            </a:r>
          </a:p>
          <a:p>
            <a:pPr>
              <a:defRPr sz="2000"/>
            </a:pPr>
            <a:r>
              <a:rPr dirty="0"/>
              <a:t>• Model performance was solid but can improve with richer customer features.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934889"/>
              </p:ext>
            </p:extLst>
          </p:nvPr>
        </p:nvGraphicFramePr>
        <p:xfrm>
          <a:off x="5344998" y="1371600"/>
          <a:ext cx="379900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</Words>
  <Application>Microsoft Office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pranjalpatil154@gmail.com</cp:lastModifiedBy>
  <cp:revision>2</cp:revision>
  <dcterms:created xsi:type="dcterms:W3CDTF">2013-01-27T09:14:16Z</dcterms:created>
  <dcterms:modified xsi:type="dcterms:W3CDTF">2025-12-08T08:58:46Z</dcterms:modified>
  <cp:category/>
</cp:coreProperties>
</file>